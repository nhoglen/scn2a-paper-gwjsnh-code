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05"/>
  </p:normalViewPr>
  <p:slideViewPr>
    <p:cSldViewPr snapToGrid="0">
      <p:cViewPr>
        <p:scale>
          <a:sx n="96" d="100"/>
          <a:sy n="96" d="100"/>
        </p:scale>
        <p:origin x="106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244A-8DB4-8907-643C-45FFE53FF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FEBE6-2908-81B8-55FE-ECB367918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54C66-2D9F-9AB9-E139-2911110B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1CA2A-A0FB-2E1E-5E02-41DCAD09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30F17-E2B6-2B5B-9CD3-58BA73D5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6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CFC69-EA71-26FC-2918-A0957EBD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C3F6E-1C26-DB57-B379-BB6371CFB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26E9A-4B9E-1C9B-3D19-C865CE7FA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75228-54E6-9DDB-6E16-211D7E4C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90BD4-8E3B-72C6-B1DA-79BBD609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9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90BA-AB23-F861-69AF-93B16419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05EFC-918B-153C-6C0E-FE129C5B1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44AFC-677F-2A83-FB92-2C55A5FD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BC38D-BA38-F8CD-683B-347C77C2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D3915-309D-C2A0-589B-C00A8B28D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1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D478-17F0-6D94-9F2D-4DEA8D29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890E7-23B7-6522-B292-7057AB231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F054D-0634-FA01-9FEE-19251C828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B1579-EB81-BA5D-396B-D42E82F3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9EDE7-31A8-806E-168B-B95590116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53106-93C7-837D-8B60-561067E07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7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739F-F07B-AB3E-BF41-EF10E5A9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78F6F-FE4B-8049-3156-916192033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758D2-E762-8172-8F70-F04B52747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EE728-9249-AC4C-3AB9-E562FD9E0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25D0E1-2651-D936-3AA2-6C12CFF46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0467F-1631-57EC-6D09-4DAC39E7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E5CD8-4317-C6FF-2914-D7E62806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20D47-6502-7588-91FC-E4BB6C4F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2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20141-5717-16C8-7A19-6A4008F9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5E134-A25D-6C40-342B-C340668F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3866F-DB56-8CB9-7BAE-B646C001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B69F6-6C28-E389-3384-596C6353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49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176C30-4136-370E-B8C5-70A88813A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6AEF2D-DFB6-2712-BE77-3C861371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C4929-296F-5E46-2442-5D57D49F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0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12DC-9129-CC74-BE05-1DB0C1443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A1C71-2EE9-EFA8-AA9C-BF3DB7A46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F78F6-4172-9BDC-C993-BEA30892D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85E23-10AE-B9C0-5255-9C74A8DD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15AA4-5D8A-EE37-185A-C7F8E270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7BF3D-E9C8-2014-4B31-0C1D42BD4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0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B256-09C4-6032-1011-8E584E1F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B603FC-7E34-D2AD-7922-08B834A2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53DBD-F9E2-F16F-B0FC-FDB1BBC8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B2FA6-9494-AD7C-AC70-C707036D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46CA1-1FDD-F98B-D6ED-DCE29B2A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DBB3D-C46F-2E80-216A-29E02106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6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7FF7-EB65-E879-E582-4F9CA02E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31FD8-681D-D5DC-542B-35BBC4D38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2D5F6-8E38-990E-60F6-4D9B9D81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DE56A-9D4C-1650-CB4C-E23C92B2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960AC-15F0-6454-88C7-FB7938D7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9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859D47-2A04-366A-061F-EC4D0E30D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8A54A-926D-31BD-C64D-8C0C04A21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B19B3-A8F8-D7D0-A9BA-3F1D6467E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E6348-8CBF-E1C9-6A87-578E84FD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D4075-CD73-87E3-84B0-41BB176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4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06163-815D-9CD5-AF08-018ED1310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C9ADF-7D74-F4DD-40A7-465FF4873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3949C-B50B-7300-6193-BE1E04C15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A6351-B95E-CD48-B63F-024A2DF55714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AE5E1-6BEE-FB31-A3F6-169528C50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5962A-BE57-EC94-7CB9-BE640B578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184DC-9034-FE49-9C59-56CF8A67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CAFA-738A-975A-D36A-CD377360E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96" y="117991"/>
            <a:ext cx="1237343" cy="592818"/>
          </a:xfrm>
        </p:spPr>
        <p:txBody>
          <a:bodyPr>
            <a:noAutofit/>
          </a:bodyPr>
          <a:lstStyle/>
          <a:p>
            <a:r>
              <a:rPr lang="en-US" dirty="0"/>
              <a:t>OFT</a:t>
            </a:r>
          </a:p>
        </p:txBody>
      </p:sp>
      <p:pic>
        <p:nvPicPr>
          <p:cNvPr id="5" name="Content Placeholder 4" descr="A graph of a graph showing a number of women's and men's health&#10;&#10;Description automatically generated with medium confidence">
            <a:extLst>
              <a:ext uri="{FF2B5EF4-FFF2-40B4-BE49-F238E27FC236}">
                <a16:creationId xmlns:a16="http://schemas.microsoft.com/office/drawing/2014/main" id="{CD078900-EE5E-FA25-9AD6-2B3860CB3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73571" y="743242"/>
            <a:ext cx="2995138" cy="3587926"/>
          </a:xfrm>
        </p:spPr>
      </p:pic>
      <p:pic>
        <p:nvPicPr>
          <p:cNvPr id="7" name="Picture 6" descr="A graph of a person and person&#10;&#10;Description automatically generated">
            <a:extLst>
              <a:ext uri="{FF2B5EF4-FFF2-40B4-BE49-F238E27FC236}">
                <a16:creationId xmlns:a16="http://schemas.microsoft.com/office/drawing/2014/main" id="{DE106CEF-26CF-6CF1-0154-076B14AF3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433" y="743242"/>
            <a:ext cx="2995138" cy="3587926"/>
          </a:xfrm>
          <a:prstGeom prst="rect">
            <a:avLst/>
          </a:prstGeom>
        </p:spPr>
      </p:pic>
      <p:pic>
        <p:nvPicPr>
          <p:cNvPr id="9" name="Picture 8" descr="A graph of a female of outer region&#10;&#10;Description automatically generated">
            <a:extLst>
              <a:ext uri="{FF2B5EF4-FFF2-40B4-BE49-F238E27FC236}">
                <a16:creationId xmlns:a16="http://schemas.microsoft.com/office/drawing/2014/main" id="{79B57789-4764-2C50-DE43-816CE6DD4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293" y="741207"/>
            <a:ext cx="3239140" cy="3880220"/>
          </a:xfrm>
          <a:prstGeom prst="rect">
            <a:avLst/>
          </a:prstGeom>
        </p:spPr>
      </p:pic>
      <p:pic>
        <p:nvPicPr>
          <p:cNvPr id="11" name="Picture 10" descr="A graph of a person and person&#10;&#10;Description automatically generated with medium confidence">
            <a:extLst>
              <a:ext uri="{FF2B5EF4-FFF2-40B4-BE49-F238E27FC236}">
                <a16:creationId xmlns:a16="http://schemas.microsoft.com/office/drawing/2014/main" id="{96BA582F-2A2D-0F22-85C3-95BEAC276B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53" y="710809"/>
            <a:ext cx="3239140" cy="38802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60A3AE-56D3-FF6A-2E34-121FEC509073}"/>
              </a:ext>
            </a:extLst>
          </p:cNvPr>
          <p:cNvSpPr txBox="1"/>
          <p:nvPr/>
        </p:nvSpPr>
        <p:spPr>
          <a:xfrm>
            <a:off x="20669" y="4652932"/>
            <a:ext cx="33981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Male WT Time in Outer Region vs 0.5: p = 1.755e-09, 1-sample t-test, null = 0.50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Male Het Time in Outer Region vs 0.5: p = 1.273e-09, 1-sample t-test, null = 0.50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Male WT vs Het Time in Outer Region: p = 0.357, independent samples t-test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4C296-C7F8-9D21-47AD-38D5DAF579BD}"/>
              </a:ext>
            </a:extLst>
          </p:cNvPr>
          <p:cNvSpPr txBox="1"/>
          <p:nvPr/>
        </p:nvSpPr>
        <p:spPr>
          <a:xfrm>
            <a:off x="3339293" y="4660527"/>
            <a:ext cx="35216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Female WT Time in Outer Region vs 0.5: p = 2.001e-11, 1-sample t-test, null = 0.50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Female Het Time in Outer Region vs 0.5: p = 3.593e-12, 1-sample t-test, null = 0.50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Female WT vs Het Time in Outer Region: p = 0.468, independent samples t-test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E0E475-DF5B-BCF2-980F-42D728E04EA8}"/>
              </a:ext>
            </a:extLst>
          </p:cNvPr>
          <p:cNvSpPr txBox="1"/>
          <p:nvPr/>
        </p:nvSpPr>
        <p:spPr>
          <a:xfrm>
            <a:off x="8208149" y="4359552"/>
            <a:ext cx="27308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Male WT vs Het Distance (cm): p = 0.709, independent samples t-test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effectLst/>
                <a:latin typeface="var(--jp-code-font-family)"/>
              </a:rPr>
              <a:t>Female WT vs Het Distance (cm): p = 0.519, independent samples t-test </a:t>
            </a:r>
          </a:p>
        </p:txBody>
      </p:sp>
    </p:spTree>
    <p:extLst>
      <p:ext uri="{BB962C8B-B14F-4D97-AF65-F5344CB8AC3E}">
        <p14:creationId xmlns:p14="http://schemas.microsoft.com/office/powerpoint/2010/main" val="3566402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BEB8-C056-F7A5-5F5B-5AC2DAA86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3657600" cy="1325563"/>
          </a:xfrm>
        </p:spPr>
        <p:txBody>
          <a:bodyPr>
            <a:normAutofit/>
          </a:bodyPr>
          <a:lstStyle/>
          <a:p>
            <a:r>
              <a:rPr lang="en-US" dirty="0"/>
              <a:t>TCT (Chamber)</a:t>
            </a:r>
          </a:p>
        </p:txBody>
      </p:sp>
      <p:pic>
        <p:nvPicPr>
          <p:cNvPr id="23" name="Picture 22" descr="A graph of a person's appearance&#10;&#10;Description automatically generated with medium confidence">
            <a:extLst>
              <a:ext uri="{FF2B5EF4-FFF2-40B4-BE49-F238E27FC236}">
                <a16:creationId xmlns:a16="http://schemas.microsoft.com/office/drawing/2014/main" id="{1B312A26-63DA-B290-ADA0-30EEB0A0B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038" y="3998440"/>
            <a:ext cx="2387110" cy="2859559"/>
          </a:xfrm>
          <a:prstGeom prst="rect">
            <a:avLst/>
          </a:prstGeom>
        </p:spPr>
      </p:pic>
      <p:pic>
        <p:nvPicPr>
          <p:cNvPr id="25" name="Picture 24" descr="A graph of a person and person&#10;&#10;Description automatically generated with medium confidence">
            <a:extLst>
              <a:ext uri="{FF2B5EF4-FFF2-40B4-BE49-F238E27FC236}">
                <a16:creationId xmlns:a16="http://schemas.microsoft.com/office/drawing/2014/main" id="{8AA2C0D4-6E6B-E245-2AF0-F594FCB48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3906278"/>
            <a:ext cx="4177443" cy="2859559"/>
          </a:xfrm>
          <a:prstGeom prst="rect">
            <a:avLst/>
          </a:prstGeom>
        </p:spPr>
      </p:pic>
      <p:pic>
        <p:nvPicPr>
          <p:cNvPr id="27" name="Picture 26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A1914F69-CFD7-A0BE-5CC3-2E0E026A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212" y="1177719"/>
            <a:ext cx="2387110" cy="2859559"/>
          </a:xfrm>
          <a:prstGeom prst="rect">
            <a:avLst/>
          </a:prstGeom>
        </p:spPr>
      </p:pic>
      <p:pic>
        <p:nvPicPr>
          <p:cNvPr id="29" name="Picture 28" descr="A graph of a female tct chamber time&#10;&#10;Description automatically generated with medium confidence">
            <a:extLst>
              <a:ext uri="{FF2B5EF4-FFF2-40B4-BE49-F238E27FC236}">
                <a16:creationId xmlns:a16="http://schemas.microsoft.com/office/drawing/2014/main" id="{C70BA007-9B9C-41FD-5E1B-E34B0139F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046719"/>
            <a:ext cx="4177443" cy="285955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EF64AF9-04A5-5D99-6E13-4FCC82C6D505}"/>
              </a:ext>
            </a:extLst>
          </p:cNvPr>
          <p:cNvSpPr txBox="1"/>
          <p:nvPr/>
        </p:nvSpPr>
        <p:spPr>
          <a:xfrm>
            <a:off x="3827506" y="1945780"/>
            <a:ext cx="33435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Female WT animal vs object chamber time: p = 0.168, </a:t>
            </a:r>
            <a:r>
              <a:rPr lang="en-US" sz="1000" dirty="0" err="1"/>
              <a:t>wilcoxon</a:t>
            </a:r>
            <a:r>
              <a:rPr lang="en-US" sz="1000" dirty="0"/>
              <a:t> signed-rank test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Female Het animal vs object chamber time: p = 0.068, paired t-test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Female WT vs Het animal chamber time: p = 0.683, </a:t>
            </a:r>
            <a:r>
              <a:rPr lang="en-US" sz="1000" dirty="0" err="1"/>
              <a:t>mann-whitney</a:t>
            </a:r>
            <a:r>
              <a:rPr lang="en-US" sz="1000" dirty="0"/>
              <a:t> u test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Female WT vs Het object chamber time: p = 0.341, </a:t>
            </a:r>
            <a:r>
              <a:rPr lang="en-US" sz="1000" dirty="0" err="1"/>
              <a:t>mann-whitney</a:t>
            </a:r>
            <a:r>
              <a:rPr lang="en-US" sz="1000" dirty="0"/>
              <a:t> u test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F086FF-F893-21E0-4A66-E10B446705DA}"/>
              </a:ext>
            </a:extLst>
          </p:cNvPr>
          <p:cNvSpPr txBox="1"/>
          <p:nvPr/>
        </p:nvSpPr>
        <p:spPr>
          <a:xfrm>
            <a:off x="9354065" y="2253556"/>
            <a:ext cx="28379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Female WT Chamber Index vs 0: p = 0.191, </a:t>
            </a:r>
            <a:r>
              <a:rPr lang="en-US" sz="1000" dirty="0" err="1"/>
              <a:t>wilcoxon</a:t>
            </a:r>
            <a:r>
              <a:rPr lang="en-US" sz="1000" dirty="0"/>
              <a:t> signed-rank test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Female Het Chamber Index vs 0: p = 0.067, </a:t>
            </a:r>
            <a:br>
              <a:rPr lang="en-US" sz="1000" dirty="0"/>
            </a:br>
            <a:r>
              <a:rPr lang="en-US" sz="1000" dirty="0"/>
              <a:t>1-sample t-test, null = 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Female WT vs Het Chamber Index: p = 0.463, </a:t>
            </a:r>
            <a:r>
              <a:rPr lang="en-US" sz="1000" dirty="0" err="1"/>
              <a:t>mann-whitney</a:t>
            </a:r>
            <a:r>
              <a:rPr lang="en-US" sz="1000" dirty="0"/>
              <a:t> u test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D59366-7162-F07B-478C-1D1C61A5F35C}"/>
              </a:ext>
            </a:extLst>
          </p:cNvPr>
          <p:cNvSpPr txBox="1"/>
          <p:nvPr/>
        </p:nvSpPr>
        <p:spPr>
          <a:xfrm>
            <a:off x="3855331" y="4766499"/>
            <a:ext cx="33157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Male WT animal vs object chamber time: p = 0.102, </a:t>
            </a:r>
            <a:r>
              <a:rPr lang="en-US" sz="1000" dirty="0" err="1"/>
              <a:t>wilcoxon</a:t>
            </a:r>
            <a:r>
              <a:rPr lang="en-US" sz="1000" dirty="0"/>
              <a:t> signed-rank test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Male Het animal vs object chamber time: p = 0.69, paired t-test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Male WT vs Het animal chamber time: p = 0.201, independent samples t-test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Male WT vs Het object chamber time: p = 0.862, </a:t>
            </a:r>
            <a:r>
              <a:rPr lang="en-US" sz="1000" dirty="0" err="1"/>
              <a:t>mann-whitney</a:t>
            </a:r>
            <a:r>
              <a:rPr lang="en-US" sz="1000" dirty="0"/>
              <a:t> u test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883706-B8C2-17B8-7BAF-359DD5675641}"/>
              </a:ext>
            </a:extLst>
          </p:cNvPr>
          <p:cNvSpPr txBox="1"/>
          <p:nvPr/>
        </p:nvSpPr>
        <p:spPr>
          <a:xfrm>
            <a:off x="9354065" y="4920386"/>
            <a:ext cx="28379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Male WT Chamber Index vs 0: p = 0.073, </a:t>
            </a:r>
            <a:br>
              <a:rPr lang="en-US" sz="1000" dirty="0"/>
            </a:br>
            <a:r>
              <a:rPr lang="en-US" sz="1000" dirty="0"/>
              <a:t>1-sample t-test, null = 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Male Het Chamber Index vs 0: p = 0.534, </a:t>
            </a:r>
            <a:br>
              <a:rPr lang="en-US" sz="1000" dirty="0"/>
            </a:br>
            <a:r>
              <a:rPr lang="en-US" sz="1000" dirty="0"/>
              <a:t>1-sample t-test, null = 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Male WT vs Het Chamber Index: p = 0.553, independent samples t-test</a:t>
            </a:r>
          </a:p>
        </p:txBody>
      </p:sp>
    </p:spTree>
    <p:extLst>
      <p:ext uri="{BB962C8B-B14F-4D97-AF65-F5344CB8AC3E}">
        <p14:creationId xmlns:p14="http://schemas.microsoft.com/office/powerpoint/2010/main" val="120776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BEB8-C056-F7A5-5F5B-5AC2DAA86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3966519" cy="1325563"/>
          </a:xfrm>
        </p:spPr>
        <p:txBody>
          <a:bodyPr>
            <a:normAutofit/>
          </a:bodyPr>
          <a:lstStyle/>
          <a:p>
            <a:r>
              <a:rPr lang="en-US" dirty="0"/>
              <a:t>TCT (Interaction)</a:t>
            </a:r>
          </a:p>
        </p:txBody>
      </p:sp>
      <p:pic>
        <p:nvPicPr>
          <p:cNvPr id="8" name="Content Placeholder 7" descr="A graph of a person and person&#10;&#10;Description automatically generated with medium confidence">
            <a:extLst>
              <a:ext uri="{FF2B5EF4-FFF2-40B4-BE49-F238E27FC236}">
                <a16:creationId xmlns:a16="http://schemas.microsoft.com/office/drawing/2014/main" id="{8AF71830-10D9-6253-D059-65697B58E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9642" y="3920659"/>
            <a:ext cx="2389208" cy="2862072"/>
          </a:xfrm>
        </p:spPr>
      </p:pic>
      <p:pic>
        <p:nvPicPr>
          <p:cNvPr id="12" name="Picture 11" descr="A graph of a person with blue and purple lines&#10;&#10;Description automatically generated with medium confidence">
            <a:extLst>
              <a:ext uri="{FF2B5EF4-FFF2-40B4-BE49-F238E27FC236}">
                <a16:creationId xmlns:a16="http://schemas.microsoft.com/office/drawing/2014/main" id="{AED86CB2-A87B-E1D2-8315-62243B342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049206"/>
            <a:ext cx="4181114" cy="2862072"/>
          </a:xfrm>
          <a:prstGeom prst="rect">
            <a:avLst/>
          </a:prstGeom>
        </p:spPr>
      </p:pic>
      <p:pic>
        <p:nvPicPr>
          <p:cNvPr id="16" name="Picture 15" descr="A screen shot of a graph&#10;&#10;Description automatically generated">
            <a:extLst>
              <a:ext uri="{FF2B5EF4-FFF2-40B4-BE49-F238E27FC236}">
                <a16:creationId xmlns:a16="http://schemas.microsoft.com/office/drawing/2014/main" id="{CE2416B1-D311-35C3-B642-6F0B87E11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9643" y="1058587"/>
            <a:ext cx="2389208" cy="2862072"/>
          </a:xfrm>
          <a:prstGeom prst="rect">
            <a:avLst/>
          </a:prstGeom>
        </p:spPr>
      </p:pic>
      <p:pic>
        <p:nvPicPr>
          <p:cNvPr id="20" name="Picture 19" descr="A graph of a person&#10;&#10;Description automatically generated with medium confidence">
            <a:extLst>
              <a:ext uri="{FF2B5EF4-FFF2-40B4-BE49-F238E27FC236}">
                <a16:creationId xmlns:a16="http://schemas.microsoft.com/office/drawing/2014/main" id="{85A3AF34-0BB2-65D7-E21E-0517315FE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58587"/>
            <a:ext cx="4181114" cy="286207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3403FEA-7AD3-3507-2DB4-025579573BE7}"/>
              </a:ext>
            </a:extLst>
          </p:cNvPr>
          <p:cNvSpPr txBox="1"/>
          <p:nvPr/>
        </p:nvSpPr>
        <p:spPr>
          <a:xfrm>
            <a:off x="3747053" y="2135680"/>
            <a:ext cx="38066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Female WT animal vs object interaction time: p = 1.476e-03, paired t-test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Female Het animal vs object interaction time: p = 0.016, </a:t>
            </a:r>
            <a:r>
              <a:rPr lang="en-US" sz="1000" dirty="0" err="1"/>
              <a:t>wilcoxon</a:t>
            </a:r>
            <a:r>
              <a:rPr lang="en-US" sz="1000" dirty="0"/>
              <a:t> signed-rank test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Female WT vs Het animal interaction time: p = 0.462, independent samples t-test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Female WT vs Het object interaction time: p = 0.497, </a:t>
            </a:r>
            <a:br>
              <a:rPr lang="en-US" sz="1000" dirty="0"/>
            </a:br>
            <a:r>
              <a:rPr lang="en-US" sz="1000" dirty="0" err="1"/>
              <a:t>mann-whitney</a:t>
            </a:r>
            <a:r>
              <a:rPr lang="en-US" sz="1000" dirty="0"/>
              <a:t> u test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CFB633-4873-C33C-9FCA-0BD4EF007105}"/>
              </a:ext>
            </a:extLst>
          </p:cNvPr>
          <p:cNvSpPr txBox="1"/>
          <p:nvPr/>
        </p:nvSpPr>
        <p:spPr>
          <a:xfrm>
            <a:off x="9581323" y="2289567"/>
            <a:ext cx="3048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highlight>
                  <a:srgbClr val="FFFFFF"/>
                </a:highlight>
              </a:rPr>
              <a:t>Female WT Interaction Index vs 0: p = 0.191, </a:t>
            </a:r>
            <a:br>
              <a:rPr lang="en-US" sz="1000" b="0" i="0" dirty="0">
                <a:effectLst/>
                <a:highlight>
                  <a:srgbClr val="FFFFFF"/>
                </a:highlight>
              </a:rPr>
            </a:br>
            <a:r>
              <a:rPr lang="en-US" sz="1000" b="0" i="0" dirty="0" err="1">
                <a:effectLst/>
                <a:highlight>
                  <a:srgbClr val="FFFFFF"/>
                </a:highlight>
              </a:rPr>
              <a:t>wilcoxon</a:t>
            </a:r>
            <a:r>
              <a:rPr lang="en-US" sz="1000" b="0" i="0" dirty="0">
                <a:effectLst/>
                <a:highlight>
                  <a:srgbClr val="FFFFFF"/>
                </a:highlight>
              </a:rPr>
              <a:t> signed-rank test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highlight>
                  <a:srgbClr val="FFFFFF"/>
                </a:highlight>
              </a:rPr>
              <a:t>Female Het Interaction Index vs 0: p = 1.719e-03, </a:t>
            </a:r>
            <a:br>
              <a:rPr lang="en-US" sz="1000" b="0" i="0" dirty="0">
                <a:effectLst/>
                <a:highlight>
                  <a:srgbClr val="FFFFFF"/>
                </a:highlight>
              </a:rPr>
            </a:br>
            <a:r>
              <a:rPr lang="en-US" sz="1000" b="0" i="0" dirty="0">
                <a:effectLst/>
                <a:highlight>
                  <a:srgbClr val="FFFFFF"/>
                </a:highlight>
              </a:rPr>
              <a:t>1-sample t-test, null = 0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highlight>
                  <a:srgbClr val="FFFFFF"/>
                </a:highlight>
              </a:rPr>
              <a:t>Female WT vs Het Interaction Index: p = 0.314, </a:t>
            </a:r>
            <a:br>
              <a:rPr lang="en-US" sz="1000" b="0" i="0" dirty="0">
                <a:effectLst/>
                <a:highlight>
                  <a:srgbClr val="FFFFFF"/>
                </a:highlight>
              </a:rPr>
            </a:br>
            <a:r>
              <a:rPr lang="en-US" sz="1000" b="0" i="0" dirty="0" err="1">
                <a:effectLst/>
                <a:highlight>
                  <a:srgbClr val="FFFFFF"/>
                </a:highlight>
              </a:rPr>
              <a:t>mann-whitney</a:t>
            </a:r>
            <a:r>
              <a:rPr lang="en-US" sz="1000" b="0" i="0" dirty="0">
                <a:effectLst/>
                <a:highlight>
                  <a:srgbClr val="FFFFFF"/>
                </a:highlight>
              </a:rPr>
              <a:t> u test</a:t>
            </a:r>
            <a:endParaRPr 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DE5836-105A-2B14-CB49-F734585EE79F}"/>
              </a:ext>
            </a:extLst>
          </p:cNvPr>
          <p:cNvSpPr txBox="1"/>
          <p:nvPr/>
        </p:nvSpPr>
        <p:spPr>
          <a:xfrm>
            <a:off x="3747053" y="4818522"/>
            <a:ext cx="35548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Male WT animal vs object interaction time: p = 0.024, </a:t>
            </a:r>
            <a:br>
              <a:rPr lang="en-US" sz="1000" dirty="0"/>
            </a:br>
            <a:r>
              <a:rPr lang="en-US" sz="1000" dirty="0" err="1"/>
              <a:t>wilcoxon</a:t>
            </a:r>
            <a:r>
              <a:rPr lang="en-US" sz="1000" dirty="0"/>
              <a:t> signed-rank test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Male Het animal vs object interaction time: p = 5.156e-03, </a:t>
            </a:r>
            <a:br>
              <a:rPr lang="en-US" sz="1000" dirty="0"/>
            </a:br>
            <a:r>
              <a:rPr lang="en-US" sz="1000" dirty="0" err="1"/>
              <a:t>wilcoxon</a:t>
            </a:r>
            <a:r>
              <a:rPr lang="en-US" sz="1000" dirty="0"/>
              <a:t> signed-rank test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Male WT vs Het animal interaction time: p = 0.191, </a:t>
            </a:r>
            <a:br>
              <a:rPr lang="en-US" sz="1000" dirty="0"/>
            </a:br>
            <a:r>
              <a:rPr lang="en-US" sz="1000" dirty="0"/>
              <a:t>independent samples t-test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Male WT vs Het object interaction time: p = 0.093, </a:t>
            </a:r>
            <a:br>
              <a:rPr lang="en-US" sz="1000" dirty="0"/>
            </a:br>
            <a:r>
              <a:rPr lang="en-US" sz="1000" dirty="0" err="1"/>
              <a:t>mann-whitney</a:t>
            </a:r>
            <a:r>
              <a:rPr lang="en-US" sz="1000" dirty="0"/>
              <a:t> u test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2A4514-FA2E-59FC-B83B-74FB258B3C0A}"/>
              </a:ext>
            </a:extLst>
          </p:cNvPr>
          <p:cNvSpPr txBox="1"/>
          <p:nvPr/>
        </p:nvSpPr>
        <p:spPr>
          <a:xfrm>
            <a:off x="9581323" y="4972409"/>
            <a:ext cx="29022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Male WT Interaction Index vs 0: p = 0.028, </a:t>
            </a:r>
            <a:br>
              <a:rPr lang="en-US" sz="1000" dirty="0"/>
            </a:br>
            <a:r>
              <a:rPr lang="en-US" sz="1000" dirty="0"/>
              <a:t>1-sample t-test, null = 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Male Het Interaction Index vs 0: p = 0.141, </a:t>
            </a:r>
            <a:br>
              <a:rPr lang="en-US" sz="1000" dirty="0"/>
            </a:br>
            <a:r>
              <a:rPr lang="en-US" sz="1000" dirty="0" err="1"/>
              <a:t>wilcoxon</a:t>
            </a:r>
            <a:r>
              <a:rPr lang="en-US" sz="1000" dirty="0"/>
              <a:t> signed-rank test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Male WT vs Het Interaction Index: p = 0.862, </a:t>
            </a:r>
            <a:br>
              <a:rPr lang="en-US" sz="1000" dirty="0"/>
            </a:br>
            <a:r>
              <a:rPr lang="en-US" sz="1000" dirty="0" err="1"/>
              <a:t>mann-whitney</a:t>
            </a:r>
            <a:r>
              <a:rPr lang="en-US" sz="1000" dirty="0"/>
              <a:t> u test</a:t>
            </a:r>
          </a:p>
        </p:txBody>
      </p:sp>
    </p:spTree>
    <p:extLst>
      <p:ext uri="{BB962C8B-B14F-4D97-AF65-F5344CB8AC3E}">
        <p14:creationId xmlns:p14="http://schemas.microsoft.com/office/powerpoint/2010/main" val="3499550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581</Words>
  <Application>Microsoft Macintosh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var(--jp-code-font-family)</vt:lpstr>
      <vt:lpstr>Office Theme</vt:lpstr>
      <vt:lpstr>OFT</vt:lpstr>
      <vt:lpstr>TCT (Chamber)</vt:lpstr>
      <vt:lpstr>TCT (Interaction)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Rex Steighner</dc:creator>
  <cp:lastModifiedBy>Joshua Rex Steighner</cp:lastModifiedBy>
  <cp:revision>1</cp:revision>
  <dcterms:created xsi:type="dcterms:W3CDTF">2024-07-01T17:09:30Z</dcterms:created>
  <dcterms:modified xsi:type="dcterms:W3CDTF">2024-07-01T17:44:49Z</dcterms:modified>
</cp:coreProperties>
</file>